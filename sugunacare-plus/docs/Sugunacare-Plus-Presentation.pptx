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4D57"/>
          </a:solidFill>
          <a:ln w="12700">
            <a:solidFill>
              <a:srgbClr val="0D4D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38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SUGUNACARE+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81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81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D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41732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Suguna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800600" y="14173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49B8B"/>
                </a:solidFill>
              </a:rPr>
              <a:t>care+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2423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9EEE0"/>
                </a:solidFill>
              </a:rPr>
              <a:t>Cardiac-care medication dashboard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41248" y="29718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DD4D2"/>
                </a:solidFill>
              </a:rPr>
              <a:t>Project presentation and code overview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0" y="1005840"/>
            <a:ext cx="2834640" cy="2834640"/>
          </a:xfrm>
          <a:prstGeom prst="arc">
            <a:avLst/>
          </a:prstGeom>
          <a:noFill/>
          <a:ln w="25400">
            <a:solidFill>
              <a:srgbClr val="F49B8B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98280" y="1600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0" b="1" dirty="0">
                <a:solidFill>
                  <a:srgbClr val="F49B8B"/>
                </a:solidFill>
              </a:rPr>
              <a:t>+</a:t>
            </a:r>
            <a:endParaRPr lang="en-US" sz="7400" dirty="0"/>
          </a:p>
        </p:txBody>
      </p:sp>
      <p:sp>
        <p:nvSpPr>
          <p:cNvPr id="8" name="Text 6"/>
          <p:cNvSpPr/>
          <p:nvPr/>
        </p:nvSpPr>
        <p:spPr>
          <a:xfrm>
            <a:off x="640080" y="58064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D8187"/>
                </a:solidFill>
              </a:rPr>
              <a:t>Built with React, TypeScript, Vite, and responsive CSS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81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4D57"/>
                </a:solidFill>
              </a:rPr>
              <a:t>1. Project idea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111556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8187"/>
                </a:solidFill>
              </a:rPr>
              <a:t>A focused daily care workflow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1033272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304800" indent="-304800">
              <a:buSzPct val="100000"/>
              <a:buChar char="•"/>
            </a:pPr>
            <a:r>
              <a:rPr lang="en-US" sz="1900" dirty="0">
                <a:solidFill>
                  <a:srgbClr val="17313A"/>
                </a:solidFill>
              </a:rPr>
              <a:t>Manage medicines and daily dose completion.</a:t>
            </a:r>
            <a:endParaRPr lang="en-US" sz="1900" dirty="0"/>
          </a:p>
          <a:p>
            <a:pPr marL="304800" indent="-304800">
              <a:buSzPct val="100000"/>
              <a:buChar char="•"/>
            </a:pPr>
            <a:r>
              <a:rPr lang="en-US" sz="1900" dirty="0">
                <a:solidFill>
                  <a:srgbClr val="17313A"/>
                </a:solidFill>
              </a:rPr>
              <a:t>Keep emergency contacts ready to call.</a:t>
            </a:r>
            <a:endParaRPr lang="en-US" sz="1900" dirty="0"/>
          </a:p>
          <a:p>
            <a:pPr marL="304800" indent="-304800">
              <a:buSzPct val="100000"/>
              <a:buChar char="•"/>
            </a:pPr>
            <a:r>
              <a:rPr lang="en-US" sz="1900" dirty="0">
                <a:solidFill>
                  <a:srgbClr val="17313A"/>
                </a:solidFill>
              </a:rPr>
              <a:t>Read prevention guidance and simple report summaries.</a:t>
            </a:r>
            <a:endParaRPr lang="en-US" sz="1900" dirty="0"/>
          </a:p>
          <a:p>
            <a:pPr marL="304800" indent="-304800">
              <a:buSzPct val="100000"/>
              <a:buChar char="•"/>
            </a:pPr>
            <a:r>
              <a:rPr lang="en-US" sz="1900" dirty="0">
                <a:solidFill>
                  <a:srgbClr val="17313A"/>
                </a:solidFill>
              </a:rPr>
              <a:t>Make the next care action visible and understandable.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81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4D57"/>
                </a:solidFill>
              </a:rPr>
              <a:t>2. Technology stack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22960" y="1600200"/>
            <a:ext cx="1033272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304800" indent="-304800">
              <a:buSzPct val="100000"/>
              <a:buChar char="•"/>
            </a:pPr>
            <a:r>
              <a:rPr lang="en-US" sz="1900" dirty="0">
                <a:solidFill>
                  <a:srgbClr val="17313A"/>
                </a:solidFill>
              </a:rPr>
              <a:t>React 19 builds the interface.</a:t>
            </a:r>
            <a:endParaRPr lang="en-US" sz="1900" dirty="0"/>
          </a:p>
          <a:p>
            <a:pPr marL="304800" indent="-304800">
              <a:buSzPct val="100000"/>
              <a:buChar char="•"/>
            </a:pPr>
            <a:r>
              <a:rPr lang="en-US" sz="1900" dirty="0">
                <a:solidFill>
                  <a:srgbClr val="17313A"/>
                </a:solidFill>
              </a:rPr>
              <a:t>TypeScript defines safer medication, account, contact, and profile data.</a:t>
            </a:r>
            <a:endParaRPr lang="en-US" sz="1900" dirty="0"/>
          </a:p>
          <a:p>
            <a:pPr marL="304800" indent="-304800">
              <a:buSzPct val="100000"/>
              <a:buChar char="•"/>
            </a:pPr>
            <a:r>
              <a:rPr lang="en-US" sz="1900" dirty="0">
                <a:solidFill>
                  <a:srgbClr val="17313A"/>
                </a:solidFill>
              </a:rPr>
              <a:t>Vite runs development and creates the production bundle.</a:t>
            </a:r>
            <a:endParaRPr lang="en-US" sz="1900" dirty="0"/>
          </a:p>
          <a:p>
            <a:pPr marL="304800" indent="-304800">
              <a:buSzPct val="100000"/>
              <a:buChar char="•"/>
            </a:pPr>
            <a:r>
              <a:rPr lang="en-US" sz="1900" dirty="0">
                <a:solidFill>
                  <a:srgbClr val="17313A"/>
                </a:solidFill>
              </a:rPr>
              <a:t>CSS provides responsive dashboard layouts.</a:t>
            </a:r>
            <a:endParaRPr lang="en-US" sz="1900" dirty="0"/>
          </a:p>
          <a:p>
            <a:pPr marL="304800" indent="-304800">
              <a:buSzPct val="100000"/>
              <a:buChar char="•"/>
            </a:pPr>
            <a:r>
              <a:rPr lang="en-US" sz="1900" dirty="0">
                <a:solidFill>
                  <a:srgbClr val="17313A"/>
                </a:solidFill>
              </a:rPr>
              <a:t>localStorage provides persistence for this browser-based prototype.</a:t>
            </a:r>
            <a:endParaRPr lang="en-US" sz="1900" dirty="0"/>
          </a:p>
          <a:p>
            <a:pPr marL="304800" indent="-304800">
              <a:buSzPct val="100000"/>
              <a:buChar char="•"/>
            </a:pPr>
            <a:r>
              <a:rPr lang="en-US" sz="1900" dirty="0">
                <a:solidFill>
                  <a:srgbClr val="17313A"/>
                </a:solidFill>
              </a:rPr>
              <a:t>Browser Notification API schedules reminders while the app is open.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81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4D57"/>
                </a:solidFill>
              </a:rPr>
              <a:t>3. Application structure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111556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8187"/>
                </a:solidFill>
              </a:rPr>
              <a:t>How the browser reaches the dashboard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10607040" cy="4114800"/>
          </a:xfrm>
          <a:prstGeom prst="roundRect">
            <a:avLst>
              <a:gd name="adj" fmla="val 1778"/>
            </a:avLst>
          </a:prstGeom>
          <a:solidFill>
            <a:srgbClr val="17313A"/>
          </a:solidFill>
          <a:ln w="12700">
            <a:solidFill>
              <a:srgbClr val="1731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01368"/>
            <a:ext cx="101498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7F5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F5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src/main.tsx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F5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-&gt; src/App.tsx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F5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-&gt; src/App.css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F5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-&gt; src/index.css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58064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D8187"/>
                </a:solidFill>
              </a:rPr>
              <a:t>main.tsx mounts App; App owns the current application behavior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81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4D57"/>
                </a:solidFill>
              </a:rPr>
              <a:t>4. Typed medication data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111556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8187"/>
                </a:solidFill>
              </a:rPr>
              <a:t>One record can represent several daily dose slots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10607040" cy="4114800"/>
          </a:xfrm>
          <a:prstGeom prst="roundRect">
            <a:avLst>
              <a:gd name="adj" fmla="val 1778"/>
            </a:avLst>
          </a:prstGeom>
          <a:solidFill>
            <a:srgbClr val="17313A"/>
          </a:solidFill>
          <a:ln w="12700">
            <a:solidFill>
              <a:srgbClr val="1731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01368"/>
            <a:ext cx="101498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7F5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F5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'Metformin',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F5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timings: ['08:00', '13:00', '20:00'],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F5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taken: [true, false, false]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F5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58064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D8187"/>
                </a:solidFill>
              </a:rPr>
              <a:t>The timings and taken arrays use matching indexes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81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4D57"/>
                </a:solidFill>
              </a:rPr>
              <a:t>5. Multiple doses and reminders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22960" y="1600200"/>
            <a:ext cx="1033272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304800" indent="-304800">
              <a:buSzPct val="100000"/>
              <a:buChar char="•"/>
            </a:pPr>
            <a:r>
              <a:rPr lang="en-US" sz="1900" dirty="0">
                <a:solidFill>
                  <a:srgbClr val="17313A"/>
                </a:solidFill>
              </a:rPr>
              <a:t>The user selects one to four doses per day.</a:t>
            </a:r>
            <a:endParaRPr lang="en-US" sz="1900" dirty="0"/>
          </a:p>
          <a:p>
            <a:pPr marL="304800" indent="-304800">
              <a:buSzPct val="100000"/>
              <a:buChar char="•"/>
            </a:pPr>
            <a:r>
              <a:rPr lang="en-US" sz="1900" dirty="0">
                <a:solidFill>
                  <a:srgbClr val="17313A"/>
                </a:solidFill>
              </a:rPr>
              <a:t>Each timing gets its own Take button.</a:t>
            </a:r>
            <a:endParaRPr lang="en-US" sz="1900" dirty="0"/>
          </a:p>
          <a:p>
            <a:pPr marL="304800" indent="-304800">
              <a:buSzPct val="100000"/>
              <a:buChar char="•"/>
            </a:pPr>
            <a:r>
              <a:rPr lang="en-US" sz="1900" dirty="0">
                <a:solidFill>
                  <a:srgbClr val="17313A"/>
                </a:solidFill>
              </a:rPr>
              <a:t>Progress counts dose slots rather than medicine names.</a:t>
            </a:r>
            <a:endParaRPr lang="en-US" sz="1900" dirty="0"/>
          </a:p>
          <a:p>
            <a:pPr marL="304800" indent="-304800">
              <a:buSzPct val="100000"/>
              <a:buChar char="•"/>
            </a:pPr>
            <a:r>
              <a:rPr lang="en-US" sz="1900" dirty="0">
                <a:solidFill>
                  <a:srgbClr val="17313A"/>
                </a:solidFill>
              </a:rPr>
              <a:t>Notifications are scheduled for every timing.</a:t>
            </a:r>
            <a:endParaRPr lang="en-US" sz="1900" dirty="0"/>
          </a:p>
          <a:p>
            <a:pPr marL="304800" indent="-304800">
              <a:buSzPct val="100000"/>
              <a:buChar char="•"/>
            </a:pPr>
            <a:r>
              <a:rPr lang="en-US" sz="1900" dirty="0">
                <a:solidFill>
                  <a:srgbClr val="17313A"/>
                </a:solidFill>
              </a:rPr>
              <a:t>Editing a medicine preserves existing completion values where possible.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81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4D57"/>
                </a:solidFill>
              </a:rPr>
              <a:t>6. 12-hour time handling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22960" y="1600200"/>
            <a:ext cx="1033272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304800" indent="-304800">
              <a:buSzPct val="100000"/>
              <a:buChar char="•"/>
            </a:pPr>
            <a:r>
              <a:rPr lang="en-US" sz="1900" dirty="0">
                <a:solidFill>
                  <a:srgbClr val="17313A"/>
                </a:solidFill>
              </a:rPr>
              <a:t>Storage remains in reliable 24-hour HH:mm format.</a:t>
            </a:r>
            <a:endParaRPr lang="en-US" sz="1900" dirty="0"/>
          </a:p>
          <a:p>
            <a:pPr marL="304800" indent="-304800">
              <a:buSzPct val="100000"/>
              <a:buChar char="•"/>
            </a:pPr>
            <a:r>
              <a:rPr lang="en-US" sz="1900" dirty="0">
                <a:solidFill>
                  <a:srgbClr val="17313A"/>
                </a:solidFill>
              </a:rPr>
              <a:t>The form presents hour, minute, and AM/PM selectors.</a:t>
            </a:r>
            <a:endParaRPr lang="en-US" sz="1900" dirty="0"/>
          </a:p>
          <a:p>
            <a:pPr marL="304800" indent="-304800">
              <a:buSzPct val="100000"/>
              <a:buChar char="•"/>
            </a:pPr>
            <a:r>
              <a:rPr lang="en-US" sz="1900" dirty="0">
                <a:solidFill>
                  <a:srgbClr val="17313A"/>
                </a:solidFill>
              </a:rPr>
              <a:t>displayTime converts stored values to labels such as 8:00 AM.</a:t>
            </a:r>
            <a:endParaRPr lang="en-US" sz="1900" dirty="0"/>
          </a:p>
          <a:p>
            <a:pPr marL="304800" indent="-304800">
              <a:buSzPct val="100000"/>
              <a:buChar char="•"/>
            </a:pPr>
            <a:r>
              <a:rPr lang="en-US" sz="1900" dirty="0">
                <a:solidFill>
                  <a:srgbClr val="17313A"/>
                </a:solidFill>
              </a:rPr>
              <a:t>timeParts and timeValue translate between the UI and stored value.</a:t>
            </a:r>
            <a:endParaRPr lang="en-US" sz="1900" dirty="0"/>
          </a:p>
          <a:p>
            <a:pPr marL="304800" indent="-304800">
              <a:buSzPct val="100000"/>
              <a:buChar char="•"/>
            </a:pPr>
            <a:r>
              <a:rPr lang="en-US" sz="1900" dirty="0">
                <a:solidFill>
                  <a:srgbClr val="17313A"/>
                </a:solidFill>
              </a:rPr>
              <a:t>This keeps sorting and browser timers predictable.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81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4D57"/>
                </a:solidFill>
              </a:rPr>
              <a:t>7. Add, edit, and delete medicines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22960" y="1600200"/>
            <a:ext cx="1033272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304800" indent="-304800">
              <a:buSzPct val="100000"/>
              <a:buChar char="•"/>
            </a:pPr>
            <a:r>
              <a:rPr lang="en-US" sz="1900" dirty="0">
                <a:solidFill>
                  <a:srgbClr val="17313A"/>
                </a:solidFill>
              </a:rPr>
              <a:t>One form handles both add and edit modes.</a:t>
            </a:r>
            <a:endParaRPr lang="en-US" sz="1900" dirty="0"/>
          </a:p>
          <a:p>
            <a:pPr marL="304800" indent="-304800">
              <a:buSzPct val="100000"/>
              <a:buChar char="•"/>
            </a:pPr>
            <a:r>
              <a:rPr lang="en-US" sz="1900" dirty="0">
                <a:solidFill>
                  <a:srgbClr val="17313A"/>
                </a:solidFill>
              </a:rPr>
              <a:t>editingMedicationId identifies the record being changed.</a:t>
            </a:r>
            <a:endParaRPr lang="en-US" sz="1900" dirty="0"/>
          </a:p>
          <a:p>
            <a:pPr marL="304800" indent="-304800">
              <a:buSzPct val="100000"/>
              <a:buChar char="•"/>
            </a:pPr>
            <a:r>
              <a:rPr lang="en-US" sz="1900" dirty="0">
                <a:solidFill>
                  <a:srgbClr val="17313A"/>
                </a:solidFill>
              </a:rPr>
              <a:t>Edit loads the existing medication into the form.</a:t>
            </a:r>
            <a:endParaRPr lang="en-US" sz="1900" dirty="0"/>
          </a:p>
          <a:p>
            <a:pPr marL="304800" indent="-304800">
              <a:buSzPct val="100000"/>
              <a:buChar char="•"/>
            </a:pPr>
            <a:r>
              <a:rPr lang="en-US" sz="1900" dirty="0">
                <a:solidFill>
                  <a:srgbClr val="17313A"/>
                </a:solidFill>
              </a:rPr>
              <a:t>Delete filters the selected medicine from state.</a:t>
            </a:r>
            <a:endParaRPr lang="en-US" sz="1900" dirty="0"/>
          </a:p>
          <a:p>
            <a:pPr marL="304800" indent="-304800">
              <a:buSzPct val="100000"/>
              <a:buChar char="•"/>
            </a:pPr>
            <a:r>
              <a:rPr lang="en-US" sz="1900" dirty="0">
                <a:solidFill>
                  <a:srgbClr val="17313A"/>
                </a:solidFill>
              </a:rPr>
              <a:t>Medication changes are persisted to localStorage.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81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4D57"/>
                </a:solidFill>
              </a:rPr>
              <a:t>8. Signup and login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22960" y="1600200"/>
            <a:ext cx="1033272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304800" indent="-304800">
              <a:buSzPct val="100000"/>
              <a:buChar char="•"/>
            </a:pPr>
            <a:r>
              <a:rPr lang="en-US" sz="1900" dirty="0">
                <a:solidFill>
                  <a:srgbClr val="17313A"/>
                </a:solidFill>
              </a:rPr>
              <a:t>Signup stores a local demo account and returns to sign in.</a:t>
            </a:r>
            <a:endParaRPr lang="en-US" sz="1900" dirty="0"/>
          </a:p>
          <a:p>
            <a:pPr marL="304800" indent="-304800">
              <a:buSzPct val="100000"/>
              <a:buChar char="•"/>
            </a:pPr>
            <a:r>
              <a:rPr lang="en-US" sz="1900" dirty="0">
                <a:solidFill>
                  <a:srgbClr val="17313A"/>
                </a:solidFill>
              </a:rPr>
              <a:t>Login compares the entered email and password with that account.</a:t>
            </a:r>
            <a:endParaRPr lang="en-US" sz="1900" dirty="0"/>
          </a:p>
          <a:p>
            <a:pPr marL="304800" indent="-304800">
              <a:buSzPct val="100000"/>
              <a:buChar char="•"/>
            </a:pPr>
            <a:r>
              <a:rPr lang="en-US" sz="1900" dirty="0">
                <a:solidFill>
                  <a:srgbClr val="17313A"/>
                </a:solidFill>
              </a:rPr>
              <a:t>Invalid credentials show an error and do not open the dashboard.</a:t>
            </a:r>
            <a:endParaRPr lang="en-US" sz="1900" dirty="0"/>
          </a:p>
          <a:p>
            <a:pPr marL="304800" indent="-304800">
              <a:buSzPct val="100000"/>
              <a:buChar char="•"/>
            </a:pPr>
            <a:r>
              <a:rPr lang="en-US" sz="1900" dirty="0">
                <a:solidFill>
                  <a:srgbClr val="17313A"/>
                </a:solidFill>
              </a:rPr>
              <a:t>A production system needs server-side authentication and password hashing.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81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4D57"/>
                </a:solidFill>
              </a:rPr>
              <a:t>9. Emergency contacts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22960" y="1600200"/>
            <a:ext cx="1033272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304800" indent="-304800">
              <a:buSzPct val="100000"/>
              <a:buChar char="•"/>
            </a:pPr>
            <a:r>
              <a:rPr lang="en-US" sz="1900" dirty="0">
                <a:solidFill>
                  <a:srgbClr val="17313A"/>
                </a:solidFill>
              </a:rPr>
              <a:t>Users can add personal contacts.</a:t>
            </a:r>
            <a:endParaRPr lang="en-US" sz="1900" dirty="0"/>
          </a:p>
          <a:p>
            <a:pPr marL="304800" indent="-304800">
              <a:buSzPct val="100000"/>
              <a:buChar char="•"/>
            </a:pPr>
            <a:r>
              <a:rPr lang="en-US" sz="1900" dirty="0">
                <a:solidFill>
                  <a:srgbClr val="17313A"/>
                </a:solidFill>
              </a:rPr>
              <a:t>Users can edit names, roles, and phone numbers.</a:t>
            </a:r>
            <a:endParaRPr lang="en-US" sz="1900" dirty="0"/>
          </a:p>
          <a:p>
            <a:pPr marL="304800" indent="-304800">
              <a:buSzPct val="100000"/>
              <a:buChar char="•"/>
            </a:pPr>
            <a:r>
              <a:rPr lang="en-US" sz="1900" dirty="0">
                <a:solidFill>
                  <a:srgbClr val="17313A"/>
                </a:solidFill>
              </a:rPr>
              <a:t>Contacts persist in localStorage.</a:t>
            </a:r>
            <a:endParaRPr lang="en-US" sz="1900" dirty="0"/>
          </a:p>
          <a:p>
            <a:pPr marL="304800" indent="-304800">
              <a:buSzPct val="100000"/>
              <a:buChar char="•"/>
            </a:pPr>
            <a:r>
              <a:rPr lang="en-US" sz="1900" dirty="0">
                <a:solidFill>
                  <a:srgbClr val="17313A"/>
                </a:solidFill>
              </a:rPr>
              <a:t>Phone numbers render as tel: links for compatible devices.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81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4D57"/>
                </a:solidFill>
              </a:rPr>
              <a:t>10. Guidance and reports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22960" y="1600200"/>
            <a:ext cx="1033272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304800" indent="-304800">
              <a:buSzPct val="100000"/>
              <a:buChar char="•"/>
            </a:pPr>
            <a:r>
              <a:rPr lang="en-US" sz="1900" dirty="0">
                <a:solidFill>
                  <a:srgbClr val="17313A"/>
                </a:solidFill>
              </a:rPr>
              <a:t>Doctor guidance gives short prevention reminders.</a:t>
            </a:r>
            <a:endParaRPr lang="en-US" sz="1900" dirty="0"/>
          </a:p>
          <a:p>
            <a:pPr marL="304800" indent="-304800">
              <a:buSzPct val="100000"/>
              <a:buChar char="•"/>
            </a:pPr>
            <a:r>
              <a:rPr lang="en-US" sz="1900" dirty="0">
                <a:solidFill>
                  <a:srgbClr val="17313A"/>
                </a:solidFill>
              </a:rPr>
              <a:t>Reports show status, plain-language summary, and future check date.</a:t>
            </a:r>
            <a:endParaRPr lang="en-US" sz="1900" dirty="0"/>
          </a:p>
          <a:p>
            <a:pPr marL="304800" indent="-304800">
              <a:buSzPct val="100000"/>
              <a:buChar char="•"/>
            </a:pPr>
            <a:r>
              <a:rPr lang="en-US" sz="1900" dirty="0">
                <a:solidFill>
                  <a:srgbClr val="17313A"/>
                </a:solidFill>
              </a:rPr>
              <a:t>The content supports personal tracking.</a:t>
            </a:r>
            <a:endParaRPr lang="en-US" sz="1900" dirty="0"/>
          </a:p>
          <a:p>
            <a:pPr marL="304800" indent="-304800">
              <a:buSzPct val="100000"/>
              <a:buChar char="•"/>
            </a:pPr>
            <a:r>
              <a:rPr lang="en-US" sz="1900" dirty="0">
                <a:solidFill>
                  <a:srgbClr val="17313A"/>
                </a:solidFill>
              </a:rPr>
              <a:t>It does not replace advice from a qualified clinician.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81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4D57"/>
                </a:solidFill>
              </a:rPr>
              <a:t>11. State and persistence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22960" y="1600200"/>
            <a:ext cx="1033272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304800" indent="-304800">
              <a:buSzPct val="100000"/>
              <a:buChar char="•"/>
            </a:pPr>
            <a:r>
              <a:rPr lang="en-US" sz="1900" dirty="0">
                <a:solidFill>
                  <a:srgbClr val="17313A"/>
                </a:solidFill>
              </a:rPr>
              <a:t>React state controls screens, forms, medications, contacts, and authentication feedback.</a:t>
            </a:r>
            <a:endParaRPr lang="en-US" sz="1900" dirty="0"/>
          </a:p>
          <a:p>
            <a:pPr marL="304800" indent="-304800">
              <a:buSzPct val="100000"/>
              <a:buChar char="•"/>
            </a:pPr>
            <a:r>
              <a:rPr lang="en-US" sz="1900" dirty="0">
                <a:solidFill>
                  <a:srgbClr val="17313A"/>
                </a:solidFill>
              </a:rPr>
              <a:t>useEffect saves profile, account, medication, and contact changes.</a:t>
            </a:r>
            <a:endParaRPr lang="en-US" sz="1900" dirty="0"/>
          </a:p>
          <a:p>
            <a:pPr marL="304800" indent="-304800">
              <a:buSzPct val="100000"/>
              <a:buChar char="•"/>
            </a:pPr>
            <a:r>
              <a:rPr lang="en-US" sz="1900" dirty="0">
                <a:solidFill>
                  <a:srgbClr val="17313A"/>
                </a:solidFill>
              </a:rPr>
              <a:t>Derived values calculate planned doses, completed doses, progress, and next reminder.</a:t>
            </a:r>
            <a:endParaRPr lang="en-US" sz="1900" dirty="0"/>
          </a:p>
          <a:p>
            <a:pPr marL="304800" indent="-304800">
              <a:buSzPct val="100000"/>
              <a:buChar char="•"/>
            </a:pPr>
            <a:r>
              <a:rPr lang="en-US" sz="1900" dirty="0">
                <a:solidFill>
                  <a:srgbClr val="17313A"/>
                </a:solidFill>
              </a:rPr>
              <a:t>Derived totals reduce duplicated state and inconsistent dashboard values.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81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4D57"/>
                </a:solidFill>
              </a:rPr>
              <a:t>12. Run and validate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77240" y="1600200"/>
            <a:ext cx="10607040" cy="4114800"/>
          </a:xfrm>
          <a:prstGeom prst="roundRect">
            <a:avLst>
              <a:gd name="adj" fmla="val 1778"/>
            </a:avLst>
          </a:prstGeom>
          <a:solidFill>
            <a:srgbClr val="17313A"/>
          </a:solidFill>
          <a:ln w="12700">
            <a:solidFill>
              <a:srgbClr val="1731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801368"/>
            <a:ext cx="101498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7F5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F5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F5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Open http://localhost:5173/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F5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build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F5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lint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F5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deploy:check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81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4D57"/>
                </a:solidFill>
              </a:rPr>
              <a:t>13. Limitations and next steps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22960" y="1600200"/>
            <a:ext cx="1033272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304800" indent="-304800">
              <a:buSzPct val="100000"/>
              <a:buChar char="•"/>
            </a:pPr>
            <a:r>
              <a:rPr lang="en-US" sz="1900" dirty="0">
                <a:solidFill>
                  <a:srgbClr val="17313A"/>
                </a:solidFill>
              </a:rPr>
              <a:t>The prototype supports one local account per browser.</a:t>
            </a:r>
            <a:endParaRPr lang="en-US" sz="1900" dirty="0"/>
          </a:p>
          <a:p>
            <a:pPr marL="304800" indent="-304800">
              <a:buSzPct val="100000"/>
              <a:buChar char="•"/>
            </a:pPr>
            <a:r>
              <a:rPr lang="en-US" sz="1900" dirty="0">
                <a:solidFill>
                  <a:srgbClr val="17313A"/>
                </a:solidFill>
              </a:rPr>
              <a:t>Credentials are not securely hashed.</a:t>
            </a:r>
            <a:endParaRPr lang="en-US" sz="1900" dirty="0"/>
          </a:p>
          <a:p>
            <a:pPr marL="304800" indent="-304800">
              <a:buSzPct val="100000"/>
              <a:buChar char="•"/>
            </a:pPr>
            <a:r>
              <a:rPr lang="en-US" sz="1900" dirty="0">
                <a:solidFill>
                  <a:srgbClr val="17313A"/>
                </a:solidFill>
              </a:rPr>
              <a:t>Notifications require the app to remain open.</a:t>
            </a:r>
            <a:endParaRPr lang="en-US" sz="1900" dirty="0"/>
          </a:p>
          <a:p>
            <a:pPr marL="304800" indent="-304800">
              <a:buSzPct val="100000"/>
              <a:buChar char="•"/>
            </a:pPr>
            <a:r>
              <a:rPr lang="en-US" sz="1900" dirty="0">
                <a:solidFill>
                  <a:srgbClr val="17313A"/>
                </a:solidFill>
              </a:rPr>
              <a:t>Report content is sample content.</a:t>
            </a:r>
            <a:endParaRPr lang="en-US" sz="1900" dirty="0"/>
          </a:p>
          <a:p>
            <a:pPr marL="304800" indent="-304800">
              <a:buSzPct val="100000"/>
              <a:buChar char="•"/>
            </a:pPr>
            <a:r>
              <a:rPr lang="en-US" sz="1900" dirty="0">
                <a:solidFill>
                  <a:srgbClr val="17313A"/>
                </a:solidFill>
              </a:rPr>
              <a:t>Next: secure backend, database, push notifications, report upload, and automated tests.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81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4D57"/>
                </a:solidFill>
              </a:rPr>
              <a:t>14. Closing summary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2240280"/>
            <a:ext cx="10241280" cy="8229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4D57"/>
                </a:solidFill>
              </a:rPr>
              <a:t>Make the next care action visible, understandable, and easy to complete.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88720" y="3429000"/>
            <a:ext cx="9784080" cy="640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6D8187"/>
                </a:solidFill>
              </a:rPr>
              <a:t>Sugunacare+ combines typed React state, multi-dose scheduling, local persistence, and care-oriented dashboard views.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81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Sugunacare+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Sugunacare+ Project Presentation</dc:title>
  <dc:subject>Project and code explanation</dc:subject>
  <dc:creator>Sugunacare+</dc:creator>
  <cp:lastModifiedBy>Sugunacare+</cp:lastModifiedBy>
  <cp:revision>1</cp:revision>
  <dcterms:created xsi:type="dcterms:W3CDTF">2026-09-19T15:43:53Z</dcterms:created>
  <dcterms:modified xsi:type="dcterms:W3CDTF">2026-09-19T15:43:53Z</dcterms:modified>
</cp:coreProperties>
</file>